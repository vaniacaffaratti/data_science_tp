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62" y="-81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966583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Fuentes: TP ds.docx, sección 4 Construcción de un sistema de alertas explicable y sección 5 Evaluación de las alertas. Datos usados: top 25 empresas por Red-Flag Score; TP=22, FP=3, FN=98, TN=877; precisión 88%, recall 18,3%, F1 30,3%; distribución de señales Linn 9, New Century 8, WorldCom 5, Lehman 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" name="Text 1"/>
          <p:cNvSpPr/>
          <p:nvPr/>
        </p:nvSpPr>
        <p:spPr>
          <a:xfrm>
            <a:off x="411480" y="146304"/>
            <a:ext cx="8961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de alertas contables: selección limitada a 25 empresas prioritarias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561320" y="18288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02920" y="841248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F66C4"/>
                </a:solidFill>
              </a:rPr>
              <a:t>Objetivo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1097280"/>
            <a:ext cx="393192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263238"/>
                </a:solidFill>
              </a:rPr>
              <a:t>Priorizar una revisión profunda sobre un cupo acotado de 25 compañías, usando señales contables explicables por familia de shenanigan.</a:t>
            </a:r>
            <a:endParaRPr lang="en-US" sz="1120" dirty="0"/>
          </a:p>
        </p:txBody>
      </p:sp>
      <p:sp>
        <p:nvSpPr>
          <p:cNvPr id="7" name="Text 5"/>
          <p:cNvSpPr/>
          <p:nvPr/>
        </p:nvSpPr>
        <p:spPr>
          <a:xfrm>
            <a:off x="502920" y="184708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F66C4"/>
                </a:solidFill>
              </a:rPr>
              <a:t>Señales utilizadas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" y="2176272"/>
            <a:ext cx="1170432" cy="310896"/>
          </a:xfrm>
          <a:prstGeom prst="roundRect">
            <a:avLst>
              <a:gd name="adj" fmla="val 23529"/>
            </a:avLst>
          </a:prstGeom>
          <a:solidFill>
            <a:srgbClr val="2F66C4"/>
          </a:solidFill>
          <a:ln w="12700">
            <a:solidFill>
              <a:srgbClr val="2F66C4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9" name="Text 7"/>
          <p:cNvSpPr/>
          <p:nvPr/>
        </p:nvSpPr>
        <p:spPr>
          <a:xfrm>
            <a:off x="585216" y="2253996"/>
            <a:ext cx="1005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30" b="1" dirty="0">
                <a:solidFill>
                  <a:srgbClr val="FFFFFF"/>
                </a:solidFill>
              </a:rPr>
              <a:t>WorldCom</a:t>
            </a:r>
            <a:endParaRPr lang="en-US" sz="830" dirty="0"/>
          </a:p>
        </p:txBody>
      </p:sp>
      <p:sp>
        <p:nvSpPr>
          <p:cNvPr id="10" name="Text 8"/>
          <p:cNvSpPr/>
          <p:nvPr/>
        </p:nvSpPr>
        <p:spPr>
          <a:xfrm>
            <a:off x="1783080" y="2194560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263238"/>
                </a:solidFill>
              </a:rPr>
              <a:t>EBITDA, CFO y Capex elevados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02920" y="2578608"/>
            <a:ext cx="1170432" cy="310896"/>
          </a:xfrm>
          <a:prstGeom prst="roundRect">
            <a:avLst>
              <a:gd name="adj" fmla="val 23529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2" name="Text 10"/>
          <p:cNvSpPr/>
          <p:nvPr/>
        </p:nvSpPr>
        <p:spPr>
          <a:xfrm>
            <a:off x="585216" y="2656332"/>
            <a:ext cx="1005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30" b="1" dirty="0">
                <a:solidFill>
                  <a:srgbClr val="FFFFFF"/>
                </a:solidFill>
              </a:rPr>
              <a:t>Linn</a:t>
            </a:r>
            <a:endParaRPr lang="en-US" sz="830" dirty="0"/>
          </a:p>
        </p:txBody>
      </p:sp>
      <p:sp>
        <p:nvSpPr>
          <p:cNvPr id="13" name="Text 11"/>
          <p:cNvSpPr/>
          <p:nvPr/>
        </p:nvSpPr>
        <p:spPr>
          <a:xfrm>
            <a:off x="1783080" y="2596896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263238"/>
                </a:solidFill>
              </a:rPr>
              <a:t>Maintenance Capex bajo + brecha DCF–FCF alta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02920" y="2980944"/>
            <a:ext cx="1170432" cy="310896"/>
          </a:xfrm>
          <a:prstGeom prst="roundRect">
            <a:avLst>
              <a:gd name="adj" fmla="val 23529"/>
            </a:avLst>
          </a:prstGeom>
          <a:solidFill>
            <a:srgbClr val="6C5CE7"/>
          </a:solidFill>
          <a:ln w="12700">
            <a:solidFill>
              <a:srgbClr val="6C5CE7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5" name="Text 13"/>
          <p:cNvSpPr/>
          <p:nvPr/>
        </p:nvSpPr>
        <p:spPr>
          <a:xfrm>
            <a:off x="585216" y="3058668"/>
            <a:ext cx="1005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30" b="1" dirty="0">
                <a:solidFill>
                  <a:srgbClr val="FFFFFF"/>
                </a:solidFill>
              </a:rPr>
              <a:t>New Century</a:t>
            </a:r>
            <a:endParaRPr lang="en-US" sz="830" dirty="0"/>
          </a:p>
        </p:txBody>
      </p:sp>
      <p:sp>
        <p:nvSpPr>
          <p:cNvPr id="16" name="Text 14"/>
          <p:cNvSpPr/>
          <p:nvPr/>
        </p:nvSpPr>
        <p:spPr>
          <a:xfrm>
            <a:off x="1783080" y="2999232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263238"/>
                </a:solidFill>
              </a:rPr>
              <a:t>NPL creciente + cobertura crediticia débil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02920" y="3383280"/>
            <a:ext cx="1170432" cy="310896"/>
          </a:xfrm>
          <a:prstGeom prst="roundRect">
            <a:avLst>
              <a:gd name="adj" fmla="val 23529"/>
            </a:avLst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8" name="Text 16"/>
          <p:cNvSpPr/>
          <p:nvPr/>
        </p:nvSpPr>
        <p:spPr>
          <a:xfrm>
            <a:off x="585216" y="3461004"/>
            <a:ext cx="1005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30" b="1" dirty="0">
                <a:solidFill>
                  <a:srgbClr val="FFFFFF"/>
                </a:solidFill>
              </a:rPr>
              <a:t>Lehman</a:t>
            </a:r>
            <a:endParaRPr lang="en-US" sz="830" dirty="0"/>
          </a:p>
        </p:txBody>
      </p:sp>
      <p:sp>
        <p:nvSpPr>
          <p:cNvPr id="19" name="Text 17"/>
          <p:cNvSpPr/>
          <p:nvPr/>
        </p:nvSpPr>
        <p:spPr>
          <a:xfrm>
            <a:off x="1783080" y="3401568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263238"/>
                </a:solidFill>
              </a:rPr>
              <a:t>Deuda de cierre baja vs. deuda promedio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983480" y="868680"/>
            <a:ext cx="2743200" cy="29260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  <a:effectLst>
            <a:outerShdw blurRad="25400" dist="127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21" name="Text 19"/>
          <p:cNvSpPr/>
          <p:nvPr/>
        </p:nvSpPr>
        <p:spPr>
          <a:xfrm>
            <a:off x="5257800" y="1060704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A44"/>
                </a:solidFill>
              </a:rPr>
              <a:t>Regla de priorización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257800" y="1426464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2F66C4"/>
                </a:solidFill>
              </a:rPr>
              <a:t>Top 25</a:t>
            </a:r>
            <a:endParaRPr lang="en-US" sz="2500" dirty="0"/>
          </a:p>
        </p:txBody>
      </p:sp>
      <p:sp>
        <p:nvSpPr>
          <p:cNvPr id="23" name="Text 21"/>
          <p:cNvSpPr/>
          <p:nvPr/>
        </p:nvSpPr>
        <p:spPr>
          <a:xfrm>
            <a:off x="5257800" y="1856232"/>
            <a:ext cx="2194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63238"/>
                </a:solidFill>
              </a:rPr>
              <a:t>empresas con mayor Red-Flag Score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376672" y="2313432"/>
            <a:ext cx="1965960" cy="0"/>
          </a:xfrm>
          <a:prstGeom prst="line">
            <a:avLst/>
          </a:prstGeom>
          <a:noFill/>
          <a:ln w="12700">
            <a:solidFill>
              <a:srgbClr val="DCE3EA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5" name="Text 23"/>
          <p:cNvSpPr/>
          <p:nvPr/>
        </p:nvSpPr>
        <p:spPr>
          <a:xfrm>
            <a:off x="5257800" y="2487168"/>
            <a:ext cx="6583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E7D32"/>
                </a:solidFill>
              </a:rPr>
              <a:t>22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5961888" y="2487168"/>
            <a:ext cx="6583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9A825"/>
                </a:solidFill>
              </a:rPr>
              <a:t>3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6665976" y="2487168"/>
            <a:ext cx="6583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62828"/>
                </a:solidFill>
              </a:rPr>
              <a:t>98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5257800" y="2852928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607D8B"/>
                </a:solidFill>
              </a:rPr>
              <a:t>TP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5961888" y="2852928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607D8B"/>
                </a:solidFill>
              </a:rPr>
              <a:t>FP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665976" y="2852928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607D8B"/>
                </a:solidFill>
              </a:rPr>
              <a:t>FN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5102352" y="3236976"/>
            <a:ext cx="21396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20" i="1" dirty="0">
                <a:solidFill>
                  <a:srgbClr val="263238"/>
                </a:solidFill>
              </a:rPr>
              <a:t>El cupo de 25 maximiza precisión, no cobertura total.</a:t>
            </a:r>
            <a:endParaRPr lang="en-US" sz="920" dirty="0"/>
          </a:p>
        </p:txBody>
      </p:sp>
      <p:sp>
        <p:nvSpPr>
          <p:cNvPr id="32" name="Text 30"/>
          <p:cNvSpPr/>
          <p:nvPr/>
        </p:nvSpPr>
        <p:spPr>
          <a:xfrm>
            <a:off x="7909560" y="841248"/>
            <a:ext cx="3566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F66C4"/>
                </a:solidFill>
              </a:rPr>
              <a:t>Resultados de evaluación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7909560" y="1207008"/>
            <a:ext cx="1170432" cy="932688"/>
          </a:xfrm>
          <a:prstGeom prst="roundRect">
            <a:avLst>
              <a:gd name="adj" fmla="val 9804"/>
            </a:avLst>
          </a:prstGeom>
          <a:solidFill>
            <a:srgbClr val="EAF7EA"/>
          </a:solidFill>
          <a:ln w="12700">
            <a:solidFill>
              <a:srgbClr val="EAF7EA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4" name="Text 32"/>
          <p:cNvSpPr/>
          <p:nvPr/>
        </p:nvSpPr>
        <p:spPr>
          <a:xfrm>
            <a:off x="7982712" y="1316736"/>
            <a:ext cx="10241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2E7D32"/>
                </a:solidFill>
              </a:rPr>
              <a:t>88%</a:t>
            </a:r>
            <a:endParaRPr lang="en-US" sz="2100" dirty="0"/>
          </a:p>
        </p:txBody>
      </p:sp>
      <p:sp>
        <p:nvSpPr>
          <p:cNvPr id="35" name="Text 33"/>
          <p:cNvSpPr/>
          <p:nvPr/>
        </p:nvSpPr>
        <p:spPr>
          <a:xfrm>
            <a:off x="7982712" y="1700784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263238"/>
                </a:solidFill>
              </a:rPr>
              <a:t>Precisión</a:t>
            </a:r>
            <a:endParaRPr lang="en-US" sz="860" dirty="0"/>
          </a:p>
        </p:txBody>
      </p:sp>
      <p:sp>
        <p:nvSpPr>
          <p:cNvPr id="36" name="Text 34"/>
          <p:cNvSpPr/>
          <p:nvPr/>
        </p:nvSpPr>
        <p:spPr>
          <a:xfrm>
            <a:off x="7982712" y="1901952"/>
            <a:ext cx="102412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607D8B"/>
                </a:solidFill>
              </a:rPr>
              <a:t>22/25 seleccionadas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9162288" y="1207008"/>
            <a:ext cx="1170432" cy="932688"/>
          </a:xfrm>
          <a:prstGeom prst="roundRect">
            <a:avLst>
              <a:gd name="adj" fmla="val 9804"/>
            </a:avLst>
          </a:prstGeom>
          <a:solidFill>
            <a:srgbClr val="FDEDEC"/>
          </a:solidFill>
          <a:ln w="12700">
            <a:solidFill>
              <a:srgbClr val="FDEDEC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8" name="Text 36"/>
          <p:cNvSpPr/>
          <p:nvPr/>
        </p:nvSpPr>
        <p:spPr>
          <a:xfrm>
            <a:off x="9235440" y="1316736"/>
            <a:ext cx="10241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C62828"/>
                </a:solidFill>
              </a:rPr>
              <a:t>18,3%</a:t>
            </a:r>
            <a:endParaRPr lang="en-US" sz="2100" dirty="0"/>
          </a:p>
        </p:txBody>
      </p:sp>
      <p:sp>
        <p:nvSpPr>
          <p:cNvPr id="39" name="Text 37"/>
          <p:cNvSpPr/>
          <p:nvPr/>
        </p:nvSpPr>
        <p:spPr>
          <a:xfrm>
            <a:off x="9235440" y="1700784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263238"/>
                </a:solidFill>
              </a:rPr>
              <a:t>Recall</a:t>
            </a:r>
            <a:endParaRPr lang="en-US" sz="860" dirty="0"/>
          </a:p>
        </p:txBody>
      </p:sp>
      <p:sp>
        <p:nvSpPr>
          <p:cNvPr id="40" name="Text 38"/>
          <p:cNvSpPr/>
          <p:nvPr/>
        </p:nvSpPr>
        <p:spPr>
          <a:xfrm>
            <a:off x="9235440" y="1901952"/>
            <a:ext cx="102412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607D8B"/>
                </a:solidFill>
              </a:rPr>
              <a:t>22/120 manipuladas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10415016" y="1207008"/>
            <a:ext cx="1170432" cy="932688"/>
          </a:xfrm>
          <a:prstGeom prst="roundRect">
            <a:avLst>
              <a:gd name="adj" fmla="val 9804"/>
            </a:avLst>
          </a:prstGeom>
          <a:solidFill>
            <a:srgbClr val="EAF1FF"/>
          </a:solidFill>
          <a:ln w="12700">
            <a:solidFill>
              <a:srgbClr val="EAF1F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42" name="Text 40"/>
          <p:cNvSpPr/>
          <p:nvPr/>
        </p:nvSpPr>
        <p:spPr>
          <a:xfrm>
            <a:off x="10488168" y="1316736"/>
            <a:ext cx="10241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2F66C4"/>
                </a:solidFill>
              </a:rPr>
              <a:t>30,3%</a:t>
            </a:r>
            <a:endParaRPr lang="en-US" sz="2100" dirty="0"/>
          </a:p>
        </p:txBody>
      </p:sp>
      <p:sp>
        <p:nvSpPr>
          <p:cNvPr id="43" name="Text 41"/>
          <p:cNvSpPr/>
          <p:nvPr/>
        </p:nvSpPr>
        <p:spPr>
          <a:xfrm>
            <a:off x="10488168" y="1700784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263238"/>
                </a:solidFill>
              </a:rPr>
              <a:t>F1</a:t>
            </a:r>
            <a:endParaRPr lang="en-US" sz="860" dirty="0"/>
          </a:p>
        </p:txBody>
      </p:sp>
      <p:sp>
        <p:nvSpPr>
          <p:cNvPr id="44" name="Text 42"/>
          <p:cNvSpPr/>
          <p:nvPr/>
        </p:nvSpPr>
        <p:spPr>
          <a:xfrm>
            <a:off x="10488168" y="1901952"/>
            <a:ext cx="102412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607D8B"/>
                </a:solidFill>
              </a:rPr>
              <a:t>alta precisión / bajo recall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7909560" y="2414016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30" b="1" dirty="0">
                <a:solidFill>
                  <a:srgbClr val="1F2A44"/>
                </a:solidFill>
              </a:rPr>
              <a:t>Señales en las 25 seleccionadas</a:t>
            </a:r>
            <a:endParaRPr lang="en-US" sz="1130" dirty="0"/>
          </a:p>
        </p:txBody>
      </p:sp>
      <p:sp>
        <p:nvSpPr>
          <p:cNvPr id="46" name="Shape 44"/>
          <p:cNvSpPr/>
          <p:nvPr/>
        </p:nvSpPr>
        <p:spPr>
          <a:xfrm>
            <a:off x="7909560" y="2761488"/>
            <a:ext cx="2148840" cy="2286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47" name="Shape 45"/>
          <p:cNvSpPr/>
          <p:nvPr/>
        </p:nvSpPr>
        <p:spPr>
          <a:xfrm>
            <a:off x="7909560" y="2761488"/>
            <a:ext cx="100584" cy="2286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48" name="Text 46"/>
          <p:cNvSpPr/>
          <p:nvPr/>
        </p:nvSpPr>
        <p:spPr>
          <a:xfrm>
            <a:off x="8092440" y="2811780"/>
            <a:ext cx="1325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60" dirty="0">
                <a:solidFill>
                  <a:srgbClr val="263238"/>
                </a:solidFill>
              </a:rPr>
              <a:t>Linn</a:t>
            </a:r>
            <a:endParaRPr lang="en-US" sz="860" dirty="0"/>
          </a:p>
        </p:txBody>
      </p:sp>
      <p:sp>
        <p:nvSpPr>
          <p:cNvPr id="49" name="Text 47"/>
          <p:cNvSpPr/>
          <p:nvPr/>
        </p:nvSpPr>
        <p:spPr>
          <a:xfrm>
            <a:off x="9656064" y="2811780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263238"/>
                </a:solidFill>
              </a:rPr>
              <a:t>9</a:t>
            </a:r>
            <a:endParaRPr lang="en-US" sz="860" dirty="0"/>
          </a:p>
        </p:txBody>
      </p:sp>
      <p:sp>
        <p:nvSpPr>
          <p:cNvPr id="50" name="Shape 48"/>
          <p:cNvSpPr/>
          <p:nvPr/>
        </p:nvSpPr>
        <p:spPr>
          <a:xfrm>
            <a:off x="7909560" y="3081528"/>
            <a:ext cx="2148840" cy="2286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51" name="Shape 49"/>
          <p:cNvSpPr/>
          <p:nvPr/>
        </p:nvSpPr>
        <p:spPr>
          <a:xfrm>
            <a:off x="7909560" y="3081528"/>
            <a:ext cx="100584" cy="228600"/>
          </a:xfrm>
          <a:prstGeom prst="rect">
            <a:avLst/>
          </a:prstGeom>
          <a:solidFill>
            <a:srgbClr val="6C5CE7"/>
          </a:solidFill>
          <a:ln w="12700">
            <a:solidFill>
              <a:srgbClr val="6C5CE7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52" name="Text 50"/>
          <p:cNvSpPr/>
          <p:nvPr/>
        </p:nvSpPr>
        <p:spPr>
          <a:xfrm>
            <a:off x="8092440" y="3131820"/>
            <a:ext cx="1325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60" dirty="0">
                <a:solidFill>
                  <a:srgbClr val="263238"/>
                </a:solidFill>
              </a:rPr>
              <a:t>New Century</a:t>
            </a:r>
            <a:endParaRPr lang="en-US" sz="860" dirty="0"/>
          </a:p>
        </p:txBody>
      </p:sp>
      <p:sp>
        <p:nvSpPr>
          <p:cNvPr id="53" name="Text 51"/>
          <p:cNvSpPr/>
          <p:nvPr/>
        </p:nvSpPr>
        <p:spPr>
          <a:xfrm>
            <a:off x="9656064" y="3131820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263238"/>
                </a:solidFill>
              </a:rPr>
              <a:t>8</a:t>
            </a:r>
            <a:endParaRPr lang="en-US" sz="860" dirty="0"/>
          </a:p>
        </p:txBody>
      </p:sp>
      <p:sp>
        <p:nvSpPr>
          <p:cNvPr id="54" name="Shape 52"/>
          <p:cNvSpPr/>
          <p:nvPr/>
        </p:nvSpPr>
        <p:spPr>
          <a:xfrm>
            <a:off x="7909560" y="3401568"/>
            <a:ext cx="2148840" cy="2286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55" name="Shape 53"/>
          <p:cNvSpPr/>
          <p:nvPr/>
        </p:nvSpPr>
        <p:spPr>
          <a:xfrm>
            <a:off x="7909560" y="3401568"/>
            <a:ext cx="100584" cy="228600"/>
          </a:xfrm>
          <a:prstGeom prst="rect">
            <a:avLst/>
          </a:prstGeom>
          <a:solidFill>
            <a:srgbClr val="2F66C4"/>
          </a:solidFill>
          <a:ln w="12700">
            <a:solidFill>
              <a:srgbClr val="2F66C4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56" name="Text 54"/>
          <p:cNvSpPr/>
          <p:nvPr/>
        </p:nvSpPr>
        <p:spPr>
          <a:xfrm>
            <a:off x="8092440" y="3451860"/>
            <a:ext cx="1325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60" dirty="0">
                <a:solidFill>
                  <a:srgbClr val="263238"/>
                </a:solidFill>
              </a:rPr>
              <a:t>WorldCom</a:t>
            </a:r>
            <a:endParaRPr lang="en-US" sz="860" dirty="0"/>
          </a:p>
        </p:txBody>
      </p:sp>
      <p:sp>
        <p:nvSpPr>
          <p:cNvPr id="57" name="Text 55"/>
          <p:cNvSpPr/>
          <p:nvPr/>
        </p:nvSpPr>
        <p:spPr>
          <a:xfrm>
            <a:off x="9656064" y="3451860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263238"/>
                </a:solidFill>
              </a:rPr>
              <a:t>5</a:t>
            </a:r>
            <a:endParaRPr lang="en-US" sz="860" dirty="0"/>
          </a:p>
        </p:txBody>
      </p:sp>
      <p:sp>
        <p:nvSpPr>
          <p:cNvPr id="58" name="Shape 56"/>
          <p:cNvSpPr/>
          <p:nvPr/>
        </p:nvSpPr>
        <p:spPr>
          <a:xfrm>
            <a:off x="7909560" y="3721608"/>
            <a:ext cx="2148840" cy="2286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59" name="Shape 57"/>
          <p:cNvSpPr/>
          <p:nvPr/>
        </p:nvSpPr>
        <p:spPr>
          <a:xfrm>
            <a:off x="7909560" y="3721608"/>
            <a:ext cx="100584" cy="228600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60" name="Text 58"/>
          <p:cNvSpPr/>
          <p:nvPr/>
        </p:nvSpPr>
        <p:spPr>
          <a:xfrm>
            <a:off x="8092440" y="3771900"/>
            <a:ext cx="1325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60" dirty="0">
                <a:solidFill>
                  <a:srgbClr val="263238"/>
                </a:solidFill>
              </a:rPr>
              <a:t>Lehman</a:t>
            </a:r>
            <a:endParaRPr lang="en-US" sz="860" dirty="0"/>
          </a:p>
        </p:txBody>
      </p:sp>
      <p:sp>
        <p:nvSpPr>
          <p:cNvPr id="61" name="Text 59"/>
          <p:cNvSpPr/>
          <p:nvPr/>
        </p:nvSpPr>
        <p:spPr>
          <a:xfrm>
            <a:off x="9656064" y="3771900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263238"/>
                </a:solidFill>
              </a:rPr>
              <a:t>4</a:t>
            </a:r>
            <a:endParaRPr lang="en-US" sz="860" dirty="0"/>
          </a:p>
        </p:txBody>
      </p:sp>
      <p:sp>
        <p:nvSpPr>
          <p:cNvPr id="62" name="Text 60"/>
          <p:cNvSpPr/>
          <p:nvPr/>
        </p:nvSpPr>
        <p:spPr>
          <a:xfrm>
            <a:off x="7909560" y="4160520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i="1" dirty="0">
                <a:solidFill>
                  <a:srgbClr val="607D8B"/>
                </a:solidFill>
              </a:rPr>
              <a:t>Nota: una empresa puede activar más de una señal.</a:t>
            </a:r>
            <a:endParaRPr lang="en-US" sz="820" dirty="0"/>
          </a:p>
        </p:txBody>
      </p:sp>
      <p:sp>
        <p:nvSpPr>
          <p:cNvPr id="63" name="Shape 61"/>
          <p:cNvSpPr/>
          <p:nvPr/>
        </p:nvSpPr>
        <p:spPr>
          <a:xfrm>
            <a:off x="502920" y="4407408"/>
            <a:ext cx="11137392" cy="1499616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  <a:effectLst>
            <a:outerShdw blurRad="19050" dist="1016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AR" dirty="0"/>
          </a:p>
        </p:txBody>
      </p:sp>
      <p:sp>
        <p:nvSpPr>
          <p:cNvPr id="65" name="Text 63"/>
          <p:cNvSpPr/>
          <p:nvPr/>
        </p:nvSpPr>
        <p:spPr>
          <a:xfrm>
            <a:off x="655320" y="4553712"/>
            <a:ext cx="10820400" cy="9144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263238"/>
                </a:solidFill>
              </a:rPr>
              <a:t>El sistema concentra la revisión en 25 empresas: logra alta precisión para priorizar auditoría, pero deja fuera casos reales. Por eso funciona como screening explicable, no como mecanismo único de </a:t>
            </a:r>
            <a:r>
              <a:rPr lang="en-US" sz="1200" dirty="0" err="1">
                <a:solidFill>
                  <a:srgbClr val="263238"/>
                </a:solidFill>
              </a:rPr>
              <a:t>detección</a:t>
            </a:r>
            <a:r>
              <a:rPr lang="en-US" sz="1200" dirty="0">
                <a:solidFill>
                  <a:srgbClr val="263238"/>
                </a:solidFill>
              </a:rPr>
              <a:t>. Se </a:t>
            </a:r>
            <a:r>
              <a:rPr lang="en-US" sz="1200" dirty="0" err="1">
                <a:solidFill>
                  <a:srgbClr val="263238"/>
                </a:solidFill>
              </a:rPr>
              <a:t>utilizaron</a:t>
            </a:r>
            <a:r>
              <a:rPr lang="en-US" sz="1200" dirty="0">
                <a:solidFill>
                  <a:srgbClr val="263238"/>
                </a:solidFill>
              </a:rPr>
              <a:t> </a:t>
            </a:r>
            <a:r>
              <a:rPr lang="en-US" sz="1200" dirty="0" err="1">
                <a:solidFill>
                  <a:srgbClr val="263238"/>
                </a:solidFill>
              </a:rPr>
              <a:t>umbrales</a:t>
            </a:r>
            <a:r>
              <a:rPr lang="en-US" sz="1200" dirty="0">
                <a:solidFill>
                  <a:srgbClr val="263238"/>
                </a:solidFill>
              </a:rPr>
              <a:t> </a:t>
            </a:r>
            <a:r>
              <a:rPr lang="en-US" sz="1200" dirty="0" err="1">
                <a:solidFill>
                  <a:srgbClr val="263238"/>
                </a:solidFill>
              </a:rPr>
              <a:t>definidos</a:t>
            </a:r>
            <a:r>
              <a:rPr lang="en-US" sz="1200" dirty="0">
                <a:solidFill>
                  <a:srgbClr val="263238"/>
                </a:solidFill>
              </a:rPr>
              <a:t> con </a:t>
            </a:r>
            <a:r>
              <a:rPr lang="en-US" sz="1200" dirty="0" err="1">
                <a:solidFill>
                  <a:srgbClr val="263238"/>
                </a:solidFill>
              </a:rPr>
              <a:t>criterios</a:t>
            </a:r>
            <a:r>
              <a:rPr lang="en-US" sz="1200" dirty="0">
                <a:solidFill>
                  <a:srgbClr val="263238"/>
                </a:solidFill>
              </a:rPr>
              <a:t> </a:t>
            </a:r>
            <a:r>
              <a:rPr lang="en-US" sz="1200" dirty="0" err="1">
                <a:solidFill>
                  <a:srgbClr val="263238"/>
                </a:solidFill>
              </a:rPr>
              <a:t>razonables</a:t>
            </a:r>
            <a:r>
              <a:rPr lang="en-US" sz="1200" dirty="0">
                <a:solidFill>
                  <a:srgbClr val="263238"/>
                </a:solidFill>
              </a:rPr>
              <a:t> </a:t>
            </a:r>
            <a:r>
              <a:rPr lang="en-US" sz="1200" dirty="0" err="1">
                <a:solidFill>
                  <a:srgbClr val="263238"/>
                </a:solidFill>
              </a:rPr>
              <a:t>pero</a:t>
            </a:r>
            <a:r>
              <a:rPr lang="en-US" sz="1200" dirty="0">
                <a:solidFill>
                  <a:srgbClr val="263238"/>
                </a:solidFill>
              </a:rPr>
              <a:t> genera </a:t>
            </a:r>
            <a:r>
              <a:rPr lang="en-US" sz="1200" dirty="0" err="1">
                <a:solidFill>
                  <a:srgbClr val="263238"/>
                </a:solidFill>
              </a:rPr>
              <a:t>falsos</a:t>
            </a:r>
            <a:r>
              <a:rPr lang="en-US" sz="1200" dirty="0">
                <a:solidFill>
                  <a:srgbClr val="263238"/>
                </a:solidFill>
              </a:rPr>
              <a:t> </a:t>
            </a:r>
            <a:r>
              <a:rPr lang="en-US" sz="1200" dirty="0" err="1">
                <a:solidFill>
                  <a:srgbClr val="263238"/>
                </a:solidFill>
              </a:rPr>
              <a:t>negativos</a:t>
            </a:r>
            <a:r>
              <a:rPr lang="en-US" sz="1200" dirty="0">
                <a:solidFill>
                  <a:srgbClr val="263238"/>
                </a:solidFill>
              </a:rPr>
              <a:t> </a:t>
            </a:r>
            <a:r>
              <a:rPr lang="en-US" sz="1200" dirty="0" err="1">
                <a:solidFill>
                  <a:srgbClr val="263238"/>
                </a:solidFill>
              </a:rPr>
              <a:t>que</a:t>
            </a:r>
            <a:r>
              <a:rPr lang="en-US" sz="1200" dirty="0">
                <a:solidFill>
                  <a:srgbClr val="263238"/>
                </a:solidFill>
              </a:rPr>
              <a:t> </a:t>
            </a:r>
            <a:r>
              <a:rPr lang="en-US" sz="1200" dirty="0" err="1">
                <a:solidFill>
                  <a:srgbClr val="263238"/>
                </a:solidFill>
              </a:rPr>
              <a:t>pueden</a:t>
            </a:r>
            <a:r>
              <a:rPr lang="en-US" sz="1200" dirty="0">
                <a:solidFill>
                  <a:srgbClr val="263238"/>
                </a:solidFill>
              </a:rPr>
              <a:t> </a:t>
            </a:r>
            <a:r>
              <a:rPr lang="en-US" sz="1200" dirty="0" err="1">
                <a:solidFill>
                  <a:srgbClr val="263238"/>
                </a:solidFill>
              </a:rPr>
              <a:t>estar</a:t>
            </a:r>
            <a:r>
              <a:rPr lang="en-US" sz="1200" dirty="0">
                <a:solidFill>
                  <a:srgbClr val="263238"/>
                </a:solidFill>
              </a:rPr>
              <a:t> </a:t>
            </a:r>
            <a:r>
              <a:rPr lang="en-US" sz="1200" dirty="0" err="1">
                <a:solidFill>
                  <a:srgbClr val="263238"/>
                </a:solidFill>
              </a:rPr>
              <a:t>explicados</a:t>
            </a:r>
            <a:r>
              <a:rPr lang="en-US" sz="1200" dirty="0">
                <a:solidFill>
                  <a:srgbClr val="263238"/>
                </a:solidFill>
              </a:rPr>
              <a:t> </a:t>
            </a:r>
            <a:r>
              <a:rPr lang="en-US" sz="1200" dirty="0" err="1">
                <a:solidFill>
                  <a:srgbClr val="263238"/>
                </a:solidFill>
              </a:rPr>
              <a:t>legítimamente</a:t>
            </a:r>
            <a:r>
              <a:rPr lang="en-US" sz="1200" dirty="0">
                <a:solidFill>
                  <a:srgbClr val="263238"/>
                </a:solidFill>
              </a:rPr>
              <a:t>.</a:t>
            </a:r>
          </a:p>
          <a:p>
            <a:r>
              <a:rPr lang="en-US" sz="1200" b="1" dirty="0">
                <a:solidFill>
                  <a:srgbClr val="C94040"/>
                </a:solidFill>
              </a:rPr>
              <a:t>Las </a:t>
            </a:r>
            <a:r>
              <a:rPr lang="en-US" sz="1200" b="1" dirty="0" err="1">
                <a:solidFill>
                  <a:srgbClr val="C94040"/>
                </a:solidFill>
              </a:rPr>
              <a:t>alertas</a:t>
            </a:r>
            <a:r>
              <a:rPr lang="en-US" sz="1200" b="1" dirty="0">
                <a:solidFill>
                  <a:srgbClr val="C94040"/>
                </a:solidFill>
              </a:rPr>
              <a:t> </a:t>
            </a:r>
            <a:r>
              <a:rPr lang="en-US" sz="1200" b="1" dirty="0" err="1">
                <a:solidFill>
                  <a:srgbClr val="C94040"/>
                </a:solidFill>
              </a:rPr>
              <a:t>identifican</a:t>
            </a:r>
            <a:r>
              <a:rPr lang="en-US" sz="1200" b="1" dirty="0">
                <a:solidFill>
                  <a:srgbClr val="C94040"/>
                </a:solidFill>
              </a:rPr>
              <a:t> </a:t>
            </a:r>
            <a:r>
              <a:rPr lang="en-US" sz="1200" b="1" dirty="0" err="1">
                <a:solidFill>
                  <a:srgbClr val="C94040"/>
                </a:solidFill>
              </a:rPr>
              <a:t>riesgo</a:t>
            </a:r>
            <a:r>
              <a:rPr lang="en-US" sz="1200" b="1" dirty="0">
                <a:solidFill>
                  <a:srgbClr val="C94040"/>
                </a:solidFill>
              </a:rPr>
              <a:t> y </a:t>
            </a:r>
            <a:r>
              <a:rPr lang="en-US" sz="1200" b="1" dirty="0" err="1">
                <a:solidFill>
                  <a:srgbClr val="C94040"/>
                </a:solidFill>
              </a:rPr>
              <a:t>priorizan</a:t>
            </a:r>
            <a:r>
              <a:rPr lang="en-US" sz="1200" b="1" dirty="0">
                <a:solidFill>
                  <a:srgbClr val="C94040"/>
                </a:solidFill>
              </a:rPr>
              <a:t> </a:t>
            </a:r>
            <a:r>
              <a:rPr lang="en-US" sz="1200" b="1" dirty="0" err="1">
                <a:solidFill>
                  <a:srgbClr val="C94040"/>
                </a:solidFill>
              </a:rPr>
              <a:t>auditoría</a:t>
            </a:r>
            <a:r>
              <a:rPr lang="en-US" sz="1200" b="1" dirty="0">
                <a:solidFill>
                  <a:srgbClr val="C94040"/>
                </a:solidFill>
              </a:rPr>
              <a:t>; no </a:t>
            </a:r>
            <a:r>
              <a:rPr lang="en-US" sz="1200" b="1" dirty="0" err="1">
                <a:solidFill>
                  <a:srgbClr val="C94040"/>
                </a:solidFill>
              </a:rPr>
              <a:t>prueban</a:t>
            </a:r>
            <a:r>
              <a:rPr lang="en-US" sz="1200" b="1" dirty="0">
                <a:solidFill>
                  <a:srgbClr val="C94040"/>
                </a:solidFill>
              </a:rPr>
              <a:t> </a:t>
            </a:r>
            <a:r>
              <a:rPr lang="en-US" sz="1200" b="1" dirty="0" err="1">
                <a:solidFill>
                  <a:srgbClr val="C94040"/>
                </a:solidFill>
              </a:rPr>
              <a:t>por</a:t>
            </a:r>
            <a:r>
              <a:rPr lang="en-US" sz="1200" b="1" dirty="0">
                <a:solidFill>
                  <a:srgbClr val="C94040"/>
                </a:solidFill>
              </a:rPr>
              <a:t> </a:t>
            </a:r>
            <a:r>
              <a:rPr lang="en-US" sz="1200" b="1" dirty="0" err="1">
                <a:solidFill>
                  <a:srgbClr val="C94040"/>
                </a:solidFill>
              </a:rPr>
              <a:t>sí</a:t>
            </a:r>
            <a:r>
              <a:rPr lang="en-US" sz="1200" b="1" dirty="0">
                <a:solidFill>
                  <a:srgbClr val="C94040"/>
                </a:solidFill>
              </a:rPr>
              <a:t> </a:t>
            </a:r>
            <a:r>
              <a:rPr lang="en-US" sz="1200" b="1" dirty="0" err="1">
                <a:solidFill>
                  <a:srgbClr val="C94040"/>
                </a:solidFill>
              </a:rPr>
              <a:t>mismas</a:t>
            </a:r>
            <a:r>
              <a:rPr lang="en-US" sz="1200" b="1" dirty="0">
                <a:solidFill>
                  <a:srgbClr val="C94040"/>
                </a:solidFill>
              </a:rPr>
              <a:t> la </a:t>
            </a:r>
            <a:r>
              <a:rPr lang="en-US" sz="1200" b="1" dirty="0" err="1">
                <a:solidFill>
                  <a:srgbClr val="C94040"/>
                </a:solidFill>
              </a:rPr>
              <a:t>existencia</a:t>
            </a:r>
            <a:r>
              <a:rPr lang="en-US" sz="1200" b="1" dirty="0">
                <a:solidFill>
                  <a:srgbClr val="C94040"/>
                </a:solidFill>
              </a:rPr>
              <a:t> de </a:t>
            </a:r>
            <a:r>
              <a:rPr lang="en-US" sz="1200" b="1" dirty="0" err="1">
                <a:solidFill>
                  <a:srgbClr val="C94040"/>
                </a:solidFill>
              </a:rPr>
              <a:t>fraude</a:t>
            </a:r>
            <a:endParaRPr lang="en-US" sz="1200" dirty="0"/>
          </a:p>
        </p:txBody>
      </p:sp>
      <p:sp>
        <p:nvSpPr>
          <p:cNvPr id="68" name="Shape 66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E9EEF5"/>
          </a:solidFill>
          <a:ln w="12700">
            <a:solidFill>
              <a:srgbClr val="E9EEF5"/>
            </a:solidFill>
            <a:prstDash val="solid"/>
          </a:ln>
        </p:spPr>
        <p:txBody>
          <a:bodyPr/>
          <a:lstStyle/>
          <a:p>
            <a:endParaRPr lang="es-AR" dirty="0"/>
          </a:p>
        </p:txBody>
      </p:sp>
      <p:sp>
        <p:nvSpPr>
          <p:cNvPr id="69" name="Text 67"/>
          <p:cNvSpPr/>
          <p:nvPr/>
        </p:nvSpPr>
        <p:spPr>
          <a:xfrm>
            <a:off x="475488" y="6318504"/>
            <a:ext cx="112471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70" b="1" dirty="0">
                <a:solidFill>
                  <a:srgbClr val="607D8B"/>
                </a:solidFill>
              </a:rPr>
              <a:t>Base: sistema de reglas por percentiles sectoriales + Red-Flag Score </a:t>
            </a:r>
            <a:r>
              <a:rPr lang="en-US" sz="770" b="1" dirty="0" err="1">
                <a:solidFill>
                  <a:srgbClr val="607D8B"/>
                </a:solidFill>
              </a:rPr>
              <a:t>en</a:t>
            </a:r>
            <a:r>
              <a:rPr lang="en-US" sz="770" b="1" dirty="0">
                <a:solidFill>
                  <a:srgbClr val="607D8B"/>
                </a:solidFill>
              </a:rPr>
              <a:t> </a:t>
            </a:r>
            <a:r>
              <a:rPr lang="en-US" sz="770" b="1" dirty="0" err="1">
                <a:solidFill>
                  <a:srgbClr val="607D8B"/>
                </a:solidFill>
              </a:rPr>
              <a:t>función</a:t>
            </a:r>
            <a:r>
              <a:rPr lang="en-US" sz="770" b="1" dirty="0">
                <a:solidFill>
                  <a:srgbClr val="607D8B"/>
                </a:solidFill>
              </a:rPr>
              <a:t> dela </a:t>
            </a:r>
            <a:r>
              <a:rPr lang="en-US" sz="770" b="1" dirty="0" err="1">
                <a:solidFill>
                  <a:srgbClr val="607D8B"/>
                </a:solidFill>
              </a:rPr>
              <a:t>distancia</a:t>
            </a:r>
            <a:r>
              <a:rPr lang="en-US" sz="770" b="1" dirty="0">
                <a:solidFill>
                  <a:srgbClr val="607D8B"/>
                </a:solidFill>
              </a:rPr>
              <a:t> del </a:t>
            </a:r>
            <a:r>
              <a:rPr lang="en-US" sz="770" b="1" dirty="0" err="1">
                <a:solidFill>
                  <a:srgbClr val="607D8B"/>
                </a:solidFill>
              </a:rPr>
              <a:t>indicador</a:t>
            </a:r>
            <a:r>
              <a:rPr lang="en-US" sz="770" b="1" dirty="0">
                <a:solidFill>
                  <a:srgbClr val="607D8B"/>
                </a:solidFill>
              </a:rPr>
              <a:t> de la </a:t>
            </a:r>
            <a:r>
              <a:rPr lang="en-US" sz="770" b="1" dirty="0" err="1">
                <a:solidFill>
                  <a:srgbClr val="607D8B"/>
                </a:solidFill>
              </a:rPr>
              <a:t>empresa</a:t>
            </a:r>
            <a:r>
              <a:rPr lang="en-US" sz="770" b="1" dirty="0">
                <a:solidFill>
                  <a:srgbClr val="607D8B"/>
                </a:solidFill>
              </a:rPr>
              <a:t> vs </a:t>
            </a:r>
            <a:r>
              <a:rPr lang="en-US" sz="770" b="1" dirty="0" err="1">
                <a:solidFill>
                  <a:srgbClr val="607D8B"/>
                </a:solidFill>
              </a:rPr>
              <a:t>los</a:t>
            </a:r>
            <a:r>
              <a:rPr lang="en-US" sz="770" b="1" dirty="0">
                <a:solidFill>
                  <a:srgbClr val="607D8B"/>
                </a:solidFill>
              </a:rPr>
              <a:t> </a:t>
            </a:r>
            <a:r>
              <a:rPr lang="en-US" sz="770" b="1" dirty="0" err="1">
                <a:solidFill>
                  <a:srgbClr val="607D8B"/>
                </a:solidFill>
              </a:rPr>
              <a:t>umbrales</a:t>
            </a:r>
            <a:r>
              <a:rPr lang="en-US" sz="770" b="1" dirty="0">
                <a:solidFill>
                  <a:srgbClr val="607D8B"/>
                </a:solidFill>
              </a:rPr>
              <a:t> </a:t>
            </a:r>
            <a:r>
              <a:rPr lang="en-US" sz="770" b="1" dirty="0" err="1">
                <a:solidFill>
                  <a:srgbClr val="607D8B"/>
                </a:solidFill>
              </a:rPr>
              <a:t>sectoriales</a:t>
            </a:r>
            <a:endParaRPr lang="en-US" sz="770" b="1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312</Words>
  <Application>Microsoft Office PowerPoint</Application>
  <PresentationFormat>Panorámica</PresentationFormat>
  <Paragraphs>47</Paragraphs>
  <Slides>1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3" baseType="lpstr">
      <vt:lpstr>Arial</vt:lpstr>
      <vt:lpstr>Office Theme</vt:lpstr>
      <vt:lpstr>Presentación de PowerPoint</vt:lpstr>
    </vt:vector>
  </TitlesOfParts>
  <Company>UTDT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comité auditoría - 25 empresas prioritarias</dc:title>
  <dc:subject>Sistema de alertas contables</dc:subject>
  <dc:creator>OpenAI</dc:creator>
  <cp:lastModifiedBy>Valentina Rattini</cp:lastModifiedBy>
  <cp:revision>2</cp:revision>
  <dcterms:created xsi:type="dcterms:W3CDTF">2026-09-26T23:47:18Z</dcterms:created>
  <dcterms:modified xsi:type="dcterms:W3CDTF">2026-09-26T23:59:17Z</dcterms:modified>
</cp:coreProperties>
</file>